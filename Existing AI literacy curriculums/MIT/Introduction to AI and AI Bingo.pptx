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  <p:sldMasterId id="214748366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Sniglet"/>
      <p:regular r:id="rId35"/>
    </p:embeddedFont>
    <p:embeddedFont>
      <p:font typeface="Bangers"/>
      <p:regular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Sniglet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Bangers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5efabcf039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5efabcf0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5efabcf039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5efabcf03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5efabcf039_0_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5efabcf03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do they all have in common?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do they do? [How do robots help us]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Cozmo - visual recognition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Alexa/Google home - speech recognition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 robots the only form of AI?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5efabcf039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5efabcf03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many of you use these?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do they have in common?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5efabcf039_0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5efabcf03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Short definition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 trying to predict something in the future or something that the data says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of what you predict (weather , what happens in a movie)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5efabcf039_0_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5efabcf03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Short definition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5efabcf039_0_4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5efabcf03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5efabcf039_0_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5efabcf03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Isn’t just numbers -- weather data vs. online video data (gives you information)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Have you ever collected a dataset??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5efabcf039_0_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5efabcf03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Short definition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5efabcf039_0_6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5efabcf03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Talk about all day tomorrow. What do you think of? What does it mean to learn? Does anyone know the world algorithm?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5efabcf039_0_6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5efabcf03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5efabcf039_0_7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5efabcf03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Artificial intelligence is a kind of algorithm… theres other kinds as well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efabcf039_0_8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efabcf03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5efabcf039_0_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5efabcf03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Short definition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5efabcf039_0_9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5efabcf03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5efabcf039_0_10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5efabcf039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5efabcf039_0_10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5efabcf03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instagrams algorithm trying to pick? What kinds of ads do you get? What do you think they are trying to do?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5efabcf039_0_11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5efabcf03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5efabcf039_0_1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5efabcf03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5efabcf039_0_1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5efabcf03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kind of dataset do you think this learning algorithm is learning from… do you notice patterns?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5efabcf039_0_13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5efabcf039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5efabcf039_0_14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5efabcf039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5efabcf039_0_15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5efabcf039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5efabcf039_0_1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5efabcf03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efabcf039_0_16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efabcf03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5efabcf039_0_17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5efabcf039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5efabcf039_0_17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5efabcf039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5efabcf039_0_2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5efabcf039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ic-04.png" id="55" name="Google Shape;55;p1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>
            <a:off x="1315275" y="921225"/>
            <a:ext cx="6411650" cy="3910600"/>
          </a:xfrm>
          <a:custGeom>
            <a:rect b="b" l="l" r="r" t="t"/>
            <a:pathLst>
              <a:path extrusionOk="0" h="156424" w="256466">
                <a:moveTo>
                  <a:pt x="39612" y="0"/>
                </a:moveTo>
                <a:lnTo>
                  <a:pt x="39612" y="26023"/>
                </a:lnTo>
                <a:lnTo>
                  <a:pt x="0" y="23918"/>
                </a:lnTo>
                <a:lnTo>
                  <a:pt x="40190" y="61876"/>
                </a:lnTo>
                <a:lnTo>
                  <a:pt x="40190" y="156424"/>
                </a:lnTo>
                <a:lnTo>
                  <a:pt x="256466" y="139076"/>
                </a:lnTo>
                <a:lnTo>
                  <a:pt x="248659" y="1995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57" name="Google Shape;57;p14"/>
          <p:cNvSpPr/>
          <p:nvPr/>
        </p:nvSpPr>
        <p:spPr>
          <a:xfrm>
            <a:off x="1010475" y="616425"/>
            <a:ext cx="6411650" cy="3910600"/>
          </a:xfrm>
          <a:custGeom>
            <a:rect b="b" l="l" r="r" t="t"/>
            <a:pathLst>
              <a:path extrusionOk="0" h="156424" w="256466">
                <a:moveTo>
                  <a:pt x="39612" y="0"/>
                </a:moveTo>
                <a:lnTo>
                  <a:pt x="39612" y="26023"/>
                </a:lnTo>
                <a:lnTo>
                  <a:pt x="0" y="23918"/>
                </a:lnTo>
                <a:lnTo>
                  <a:pt x="40190" y="61876"/>
                </a:lnTo>
                <a:lnTo>
                  <a:pt x="40190" y="156424"/>
                </a:lnTo>
                <a:lnTo>
                  <a:pt x="256466" y="139076"/>
                </a:lnTo>
                <a:lnTo>
                  <a:pt x="248659" y="19951"/>
                </a:lnTo>
                <a:close/>
              </a:path>
            </a:pathLst>
          </a:custGeom>
          <a:solidFill>
            <a:srgbClr val="FFFFFF"/>
          </a:solidFill>
          <a:ln cap="flat" cmpd="sng" w="76200">
            <a:solidFill>
              <a:srgbClr val="00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58" name="Google Shape;58;p14"/>
          <p:cNvSpPr txBox="1"/>
          <p:nvPr>
            <p:ph type="ctrTitle"/>
          </p:nvPr>
        </p:nvSpPr>
        <p:spPr>
          <a:xfrm>
            <a:off x="2572125" y="2068625"/>
            <a:ext cx="42717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ic-04.png" id="60" name="Google Shape;60;p1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/>
          <p:nvPr/>
        </p:nvSpPr>
        <p:spPr>
          <a:xfrm flipH="1" rot="169468">
            <a:off x="3608972" y="646196"/>
            <a:ext cx="5247975" cy="3809532"/>
          </a:xfrm>
          <a:prstGeom prst="wedgeEllipseCallout">
            <a:avLst>
              <a:gd fmla="val -42509" name="adj1"/>
              <a:gd fmla="val 62980" name="adj2"/>
            </a:avLst>
          </a:prstGeom>
          <a:solidFill>
            <a:srgbClr val="001936">
              <a:alpha val="21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 flipH="1" rot="169468">
            <a:off x="3380372" y="417596"/>
            <a:ext cx="5247975" cy="3809532"/>
          </a:xfrm>
          <a:prstGeom prst="wedgeEllipseCallout">
            <a:avLst>
              <a:gd fmla="val -42509" name="adj1"/>
              <a:gd fmla="val 62980" name="adj2"/>
            </a:avLst>
          </a:prstGeom>
          <a:solidFill>
            <a:srgbClr val="FFFFFF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 txBox="1"/>
          <p:nvPr>
            <p:ph type="ctrTitle"/>
          </p:nvPr>
        </p:nvSpPr>
        <p:spPr>
          <a:xfrm>
            <a:off x="4101125" y="1659550"/>
            <a:ext cx="3767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4101125" y="2687651"/>
            <a:ext cx="3767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ic-02.png" id="67" name="Google Shape;67;p1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/>
          <p:nvPr/>
        </p:nvSpPr>
        <p:spPr>
          <a:xfrm>
            <a:off x="1992350" y="37775"/>
            <a:ext cx="5616577" cy="5220440"/>
          </a:xfrm>
          <a:custGeom>
            <a:rect b="b" l="l" r="r" t="t"/>
            <a:pathLst>
              <a:path extrusionOk="0" h="106692" w="114788">
                <a:moveTo>
                  <a:pt x="40479" y="15324"/>
                </a:moveTo>
                <a:lnTo>
                  <a:pt x="41346" y="3758"/>
                </a:lnTo>
                <a:lnTo>
                  <a:pt x="52623" y="13878"/>
                </a:lnTo>
                <a:lnTo>
                  <a:pt x="56382" y="0"/>
                </a:lnTo>
                <a:lnTo>
                  <a:pt x="63610" y="14746"/>
                </a:lnTo>
                <a:lnTo>
                  <a:pt x="70549" y="2024"/>
                </a:lnTo>
                <a:lnTo>
                  <a:pt x="75754" y="17926"/>
                </a:lnTo>
                <a:lnTo>
                  <a:pt x="85006" y="6939"/>
                </a:lnTo>
                <a:lnTo>
                  <a:pt x="85006" y="23131"/>
                </a:lnTo>
                <a:lnTo>
                  <a:pt x="100620" y="13589"/>
                </a:lnTo>
                <a:lnTo>
                  <a:pt x="96861" y="31516"/>
                </a:lnTo>
                <a:lnTo>
                  <a:pt x="111896" y="26889"/>
                </a:lnTo>
                <a:lnTo>
                  <a:pt x="100909" y="41057"/>
                </a:lnTo>
                <a:lnTo>
                  <a:pt x="114209" y="42214"/>
                </a:lnTo>
                <a:lnTo>
                  <a:pt x="104379" y="53201"/>
                </a:lnTo>
                <a:lnTo>
                  <a:pt x="114788" y="59851"/>
                </a:lnTo>
                <a:lnTo>
                  <a:pt x="101198" y="64188"/>
                </a:lnTo>
                <a:lnTo>
                  <a:pt x="105246" y="74886"/>
                </a:lnTo>
                <a:lnTo>
                  <a:pt x="93102" y="73730"/>
                </a:lnTo>
                <a:lnTo>
                  <a:pt x="97150" y="85006"/>
                </a:lnTo>
                <a:lnTo>
                  <a:pt x="88187" y="81537"/>
                </a:lnTo>
                <a:lnTo>
                  <a:pt x="87319" y="95994"/>
                </a:lnTo>
                <a:lnTo>
                  <a:pt x="76043" y="91078"/>
                </a:lnTo>
                <a:lnTo>
                  <a:pt x="71417" y="101776"/>
                </a:lnTo>
                <a:lnTo>
                  <a:pt x="64478" y="93970"/>
                </a:lnTo>
                <a:lnTo>
                  <a:pt x="58984" y="106692"/>
                </a:lnTo>
                <a:lnTo>
                  <a:pt x="52334" y="88187"/>
                </a:lnTo>
                <a:lnTo>
                  <a:pt x="45105" y="100620"/>
                </a:lnTo>
                <a:lnTo>
                  <a:pt x="41636" y="86741"/>
                </a:lnTo>
                <a:lnTo>
                  <a:pt x="29492" y="102355"/>
                </a:lnTo>
                <a:lnTo>
                  <a:pt x="29781" y="83271"/>
                </a:lnTo>
                <a:lnTo>
                  <a:pt x="20239" y="87319"/>
                </a:lnTo>
                <a:lnTo>
                  <a:pt x="21107" y="76332"/>
                </a:lnTo>
                <a:lnTo>
                  <a:pt x="4915" y="79224"/>
                </a:lnTo>
                <a:lnTo>
                  <a:pt x="16191" y="66212"/>
                </a:lnTo>
                <a:lnTo>
                  <a:pt x="7806" y="62164"/>
                </a:lnTo>
                <a:lnTo>
                  <a:pt x="14167" y="56960"/>
                </a:lnTo>
                <a:lnTo>
                  <a:pt x="0" y="47997"/>
                </a:lnTo>
                <a:lnTo>
                  <a:pt x="18215" y="43081"/>
                </a:lnTo>
                <a:lnTo>
                  <a:pt x="9252" y="31516"/>
                </a:lnTo>
                <a:lnTo>
                  <a:pt x="26022" y="33540"/>
                </a:lnTo>
                <a:lnTo>
                  <a:pt x="16191" y="18504"/>
                </a:lnTo>
                <a:lnTo>
                  <a:pt x="31516" y="23420"/>
                </a:lnTo>
                <a:lnTo>
                  <a:pt x="32094" y="11854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69" name="Google Shape;69;p16"/>
          <p:cNvSpPr/>
          <p:nvPr/>
        </p:nvSpPr>
        <p:spPr>
          <a:xfrm>
            <a:off x="1763750" y="-114625"/>
            <a:ext cx="5616577" cy="5220440"/>
          </a:xfrm>
          <a:custGeom>
            <a:rect b="b" l="l" r="r" t="t"/>
            <a:pathLst>
              <a:path extrusionOk="0" h="106692" w="114788">
                <a:moveTo>
                  <a:pt x="40479" y="15324"/>
                </a:moveTo>
                <a:lnTo>
                  <a:pt x="41346" y="3758"/>
                </a:lnTo>
                <a:lnTo>
                  <a:pt x="52623" y="13878"/>
                </a:lnTo>
                <a:lnTo>
                  <a:pt x="56382" y="0"/>
                </a:lnTo>
                <a:lnTo>
                  <a:pt x="63610" y="14746"/>
                </a:lnTo>
                <a:lnTo>
                  <a:pt x="70549" y="2024"/>
                </a:lnTo>
                <a:lnTo>
                  <a:pt x="75754" y="17926"/>
                </a:lnTo>
                <a:lnTo>
                  <a:pt x="85006" y="6939"/>
                </a:lnTo>
                <a:lnTo>
                  <a:pt x="85006" y="23131"/>
                </a:lnTo>
                <a:lnTo>
                  <a:pt x="100620" y="13589"/>
                </a:lnTo>
                <a:lnTo>
                  <a:pt x="96861" y="31516"/>
                </a:lnTo>
                <a:lnTo>
                  <a:pt x="111896" y="26889"/>
                </a:lnTo>
                <a:lnTo>
                  <a:pt x="100909" y="41057"/>
                </a:lnTo>
                <a:lnTo>
                  <a:pt x="114209" y="42214"/>
                </a:lnTo>
                <a:lnTo>
                  <a:pt x="104379" y="53201"/>
                </a:lnTo>
                <a:lnTo>
                  <a:pt x="114788" y="59851"/>
                </a:lnTo>
                <a:lnTo>
                  <a:pt x="101198" y="64188"/>
                </a:lnTo>
                <a:lnTo>
                  <a:pt x="105246" y="74886"/>
                </a:lnTo>
                <a:lnTo>
                  <a:pt x="93102" y="73730"/>
                </a:lnTo>
                <a:lnTo>
                  <a:pt x="97150" y="85006"/>
                </a:lnTo>
                <a:lnTo>
                  <a:pt x="88187" y="81537"/>
                </a:lnTo>
                <a:lnTo>
                  <a:pt x="87319" y="95994"/>
                </a:lnTo>
                <a:lnTo>
                  <a:pt x="76043" y="91078"/>
                </a:lnTo>
                <a:lnTo>
                  <a:pt x="71417" y="101776"/>
                </a:lnTo>
                <a:lnTo>
                  <a:pt x="64478" y="93970"/>
                </a:lnTo>
                <a:lnTo>
                  <a:pt x="58984" y="106692"/>
                </a:lnTo>
                <a:lnTo>
                  <a:pt x="52334" y="88187"/>
                </a:lnTo>
                <a:lnTo>
                  <a:pt x="45105" y="100620"/>
                </a:lnTo>
                <a:lnTo>
                  <a:pt x="41636" y="86741"/>
                </a:lnTo>
                <a:lnTo>
                  <a:pt x="29492" y="102355"/>
                </a:lnTo>
                <a:lnTo>
                  <a:pt x="29781" y="83271"/>
                </a:lnTo>
                <a:lnTo>
                  <a:pt x="20239" y="87319"/>
                </a:lnTo>
                <a:lnTo>
                  <a:pt x="21107" y="76332"/>
                </a:lnTo>
                <a:lnTo>
                  <a:pt x="4915" y="79224"/>
                </a:lnTo>
                <a:lnTo>
                  <a:pt x="16191" y="66212"/>
                </a:lnTo>
                <a:lnTo>
                  <a:pt x="7806" y="62164"/>
                </a:lnTo>
                <a:lnTo>
                  <a:pt x="14167" y="56960"/>
                </a:lnTo>
                <a:lnTo>
                  <a:pt x="0" y="47997"/>
                </a:lnTo>
                <a:lnTo>
                  <a:pt x="18215" y="43081"/>
                </a:lnTo>
                <a:lnTo>
                  <a:pt x="9252" y="31516"/>
                </a:lnTo>
                <a:lnTo>
                  <a:pt x="26022" y="33540"/>
                </a:lnTo>
                <a:lnTo>
                  <a:pt x="16191" y="18504"/>
                </a:lnTo>
                <a:lnTo>
                  <a:pt x="31516" y="23420"/>
                </a:lnTo>
                <a:lnTo>
                  <a:pt x="32094" y="11854"/>
                </a:lnTo>
                <a:close/>
              </a:path>
            </a:pathLst>
          </a:custGeom>
          <a:solidFill>
            <a:srgbClr val="FFFFFF"/>
          </a:solidFill>
          <a:ln cap="flat" cmpd="sng" w="76200">
            <a:solidFill>
              <a:srgbClr val="00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2905800" y="2161800"/>
            <a:ext cx="3332400" cy="8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angers"/>
              <a:buChar char="×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1pPr>
            <a:lvl2pPr indent="-381000" lvl="1" marL="9144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angers"/>
              <a:buChar char="×"/>
              <a:defRPr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2pPr>
            <a:lvl3pPr indent="-381000" lvl="2" marL="13716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angers"/>
              <a:buChar char="×"/>
              <a:defRPr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3pPr>
            <a:lvl4pPr indent="-381000" lvl="3" marL="18288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angers"/>
              <a:buChar char="×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4pPr>
            <a:lvl5pPr indent="-381000" lvl="4" marL="22860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angers"/>
              <a:buChar char="×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5pPr>
            <a:lvl6pPr indent="-381000" lvl="5" marL="27432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angers"/>
              <a:buChar char="×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6pPr>
            <a:lvl7pPr indent="-381000" lvl="6" marL="32004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angers"/>
              <a:buChar char="×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7pPr>
            <a:lvl8pPr indent="-381000" lvl="7" marL="36576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angers"/>
              <a:buChar char="×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8pPr>
            <a:lvl9pPr indent="-381000" lvl="8" marL="41148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angers"/>
              <a:buChar char="×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latin typeface="Bangers"/>
                <a:ea typeface="Bangers"/>
                <a:cs typeface="Bangers"/>
                <a:sym typeface="Bangers"/>
              </a:defRPr>
            </a:lvl1pPr>
            <a:lvl2pPr lvl="1" rtl="0">
              <a:buNone/>
              <a:defRPr>
                <a:latin typeface="Bangers"/>
                <a:ea typeface="Bangers"/>
                <a:cs typeface="Bangers"/>
                <a:sym typeface="Bangers"/>
              </a:defRPr>
            </a:lvl2pPr>
            <a:lvl3pPr lvl="2" rtl="0">
              <a:buNone/>
              <a:defRPr>
                <a:latin typeface="Bangers"/>
                <a:ea typeface="Bangers"/>
                <a:cs typeface="Bangers"/>
                <a:sym typeface="Bangers"/>
              </a:defRPr>
            </a:lvl3pPr>
            <a:lvl4pPr lvl="3" rtl="0">
              <a:buNone/>
              <a:defRPr>
                <a:latin typeface="Bangers"/>
                <a:ea typeface="Bangers"/>
                <a:cs typeface="Bangers"/>
                <a:sym typeface="Bangers"/>
              </a:defRPr>
            </a:lvl4pPr>
            <a:lvl5pPr lvl="4" rtl="0">
              <a:buNone/>
              <a:defRPr>
                <a:latin typeface="Bangers"/>
                <a:ea typeface="Bangers"/>
                <a:cs typeface="Bangers"/>
                <a:sym typeface="Bangers"/>
              </a:defRPr>
            </a:lvl5pPr>
            <a:lvl6pPr lvl="5" rtl="0">
              <a:buNone/>
              <a:defRPr>
                <a:latin typeface="Bangers"/>
                <a:ea typeface="Bangers"/>
                <a:cs typeface="Bangers"/>
                <a:sym typeface="Bangers"/>
              </a:defRPr>
            </a:lvl6pPr>
            <a:lvl7pPr lvl="6" rtl="0">
              <a:buNone/>
              <a:defRPr>
                <a:latin typeface="Bangers"/>
                <a:ea typeface="Bangers"/>
                <a:cs typeface="Bangers"/>
                <a:sym typeface="Bangers"/>
              </a:defRPr>
            </a:lvl7pPr>
            <a:lvl8pPr lvl="7" rtl="0">
              <a:buNone/>
              <a:defRPr>
                <a:latin typeface="Bangers"/>
                <a:ea typeface="Bangers"/>
                <a:cs typeface="Bangers"/>
                <a:sym typeface="Bangers"/>
              </a:defRPr>
            </a:lvl8pPr>
            <a:lvl9pPr lvl="8" rtl="0">
              <a:buNone/>
              <a:defRPr>
                <a:latin typeface="Bangers"/>
                <a:ea typeface="Bangers"/>
                <a:cs typeface="Bangers"/>
                <a:sym typeface="Banger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ic-01.png" id="73" name="Google Shape;73;p1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7"/>
          <p:cNvSpPr/>
          <p:nvPr/>
        </p:nvSpPr>
        <p:spPr>
          <a:xfrm>
            <a:off x="734600" y="763500"/>
            <a:ext cx="7879000" cy="4185275"/>
          </a:xfrm>
          <a:custGeom>
            <a:rect b="b" l="l" r="r" t="t"/>
            <a:pathLst>
              <a:path extrusionOk="0" h="167411" w="31516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75" name="Google Shape;75;p17"/>
          <p:cNvSpPr/>
          <p:nvPr/>
        </p:nvSpPr>
        <p:spPr>
          <a:xfrm>
            <a:off x="506000" y="534900"/>
            <a:ext cx="7879000" cy="4185275"/>
          </a:xfrm>
          <a:custGeom>
            <a:rect b="b" l="l" r="r" t="t"/>
            <a:pathLst>
              <a:path extrusionOk="0" h="167411" w="31516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FFFFFF"/>
          </a:solidFill>
          <a:ln cap="flat" cmpd="sng" w="76200">
            <a:solidFill>
              <a:srgbClr val="00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76" name="Google Shape;76;p17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1052050" y="1545942"/>
            <a:ext cx="7710900" cy="3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×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×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×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ic-01.png" id="80" name="Google Shape;80;p1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8"/>
          <p:cNvSpPr/>
          <p:nvPr/>
        </p:nvSpPr>
        <p:spPr>
          <a:xfrm>
            <a:off x="734600" y="763500"/>
            <a:ext cx="7879000" cy="4185275"/>
          </a:xfrm>
          <a:custGeom>
            <a:rect b="b" l="l" r="r" t="t"/>
            <a:pathLst>
              <a:path extrusionOk="0" h="167411" w="31516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82" name="Google Shape;82;p18"/>
          <p:cNvSpPr/>
          <p:nvPr/>
        </p:nvSpPr>
        <p:spPr>
          <a:xfrm>
            <a:off x="506000" y="534900"/>
            <a:ext cx="7879000" cy="4185275"/>
          </a:xfrm>
          <a:custGeom>
            <a:rect b="b" l="l" r="r" t="t"/>
            <a:pathLst>
              <a:path extrusionOk="0" h="167411" w="31516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FFFFFF"/>
          </a:solidFill>
          <a:ln cap="flat" cmpd="sng" w="76200">
            <a:solidFill>
              <a:srgbClr val="00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83" name="Google Shape;83;p18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1073625" y="1550125"/>
            <a:ext cx="3396300" cy="26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spcBef>
                <a:spcPts val="600"/>
              </a:spcBef>
              <a:spcAft>
                <a:spcPts val="0"/>
              </a:spcAft>
              <a:buSzPts val="2200"/>
              <a:buChar char="×"/>
              <a:defRPr sz="2200"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9pPr>
          </a:lstStyle>
          <a:p/>
        </p:txBody>
      </p:sp>
      <p:sp>
        <p:nvSpPr>
          <p:cNvPr id="85" name="Google Shape;85;p18"/>
          <p:cNvSpPr txBox="1"/>
          <p:nvPr>
            <p:ph idx="2" type="body"/>
          </p:nvPr>
        </p:nvSpPr>
        <p:spPr>
          <a:xfrm>
            <a:off x="4674251" y="1550125"/>
            <a:ext cx="3396300" cy="26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spcBef>
                <a:spcPts val="600"/>
              </a:spcBef>
              <a:spcAft>
                <a:spcPts val="0"/>
              </a:spcAft>
              <a:buSzPts val="2200"/>
              <a:buChar char="×"/>
              <a:defRPr sz="2200"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ic-01.png" id="88" name="Google Shape;88;p1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9"/>
          <p:cNvSpPr/>
          <p:nvPr/>
        </p:nvSpPr>
        <p:spPr>
          <a:xfrm>
            <a:off x="734600" y="763500"/>
            <a:ext cx="7879000" cy="4185275"/>
          </a:xfrm>
          <a:custGeom>
            <a:rect b="b" l="l" r="r" t="t"/>
            <a:pathLst>
              <a:path extrusionOk="0" h="167411" w="31516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90" name="Google Shape;90;p19"/>
          <p:cNvSpPr/>
          <p:nvPr/>
        </p:nvSpPr>
        <p:spPr>
          <a:xfrm>
            <a:off x="506000" y="534900"/>
            <a:ext cx="7879000" cy="4185275"/>
          </a:xfrm>
          <a:custGeom>
            <a:rect b="b" l="l" r="r" t="t"/>
            <a:pathLst>
              <a:path extrusionOk="0" h="167411" w="31516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FFFFFF"/>
          </a:solidFill>
          <a:ln cap="flat" cmpd="sng" w="76200">
            <a:solidFill>
              <a:srgbClr val="00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91" name="Google Shape;91;p19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902950" y="1556175"/>
            <a:ext cx="2295300" cy="28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×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2" type="body"/>
          </p:nvPr>
        </p:nvSpPr>
        <p:spPr>
          <a:xfrm>
            <a:off x="3315993" y="1556175"/>
            <a:ext cx="2295300" cy="28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×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3" type="body"/>
          </p:nvPr>
        </p:nvSpPr>
        <p:spPr>
          <a:xfrm>
            <a:off x="5729035" y="1556175"/>
            <a:ext cx="2295300" cy="28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×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ic-01.png" id="97" name="Google Shape;97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0"/>
          <p:cNvSpPr/>
          <p:nvPr/>
        </p:nvSpPr>
        <p:spPr>
          <a:xfrm>
            <a:off x="734600" y="763500"/>
            <a:ext cx="7879000" cy="4185275"/>
          </a:xfrm>
          <a:custGeom>
            <a:rect b="b" l="l" r="r" t="t"/>
            <a:pathLst>
              <a:path extrusionOk="0" h="167411" w="31516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99" name="Google Shape;99;p20"/>
          <p:cNvSpPr/>
          <p:nvPr/>
        </p:nvSpPr>
        <p:spPr>
          <a:xfrm>
            <a:off x="506000" y="534900"/>
            <a:ext cx="7879000" cy="4185275"/>
          </a:xfrm>
          <a:custGeom>
            <a:rect b="b" l="l" r="r" t="t"/>
            <a:pathLst>
              <a:path extrusionOk="0" h="167411" w="31516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FFFFFF"/>
          </a:solidFill>
          <a:ln cap="flat" cmpd="sng" w="76200">
            <a:solidFill>
              <a:srgbClr val="00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100" name="Google Shape;100;p20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ic-01.png" id="103" name="Google Shape;103;p2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1"/>
          <p:cNvSpPr/>
          <p:nvPr/>
        </p:nvSpPr>
        <p:spPr>
          <a:xfrm>
            <a:off x="734600" y="763500"/>
            <a:ext cx="7879000" cy="4185275"/>
          </a:xfrm>
          <a:custGeom>
            <a:rect b="b" l="l" r="r" t="t"/>
            <a:pathLst>
              <a:path extrusionOk="0" h="167411" w="31516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105" name="Google Shape;105;p21"/>
          <p:cNvSpPr/>
          <p:nvPr/>
        </p:nvSpPr>
        <p:spPr>
          <a:xfrm>
            <a:off x="506000" y="534900"/>
            <a:ext cx="7879000" cy="4185275"/>
          </a:xfrm>
          <a:custGeom>
            <a:rect b="b" l="l" r="r" t="t"/>
            <a:pathLst>
              <a:path extrusionOk="0" h="167411" w="31516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FFFFFF"/>
          </a:solidFill>
          <a:ln cap="flat" cmpd="sng" w="76200">
            <a:solidFill>
              <a:srgbClr val="00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106" name="Google Shape;106;p21"/>
          <p:cNvSpPr txBox="1"/>
          <p:nvPr>
            <p:ph idx="1" type="body"/>
          </p:nvPr>
        </p:nvSpPr>
        <p:spPr>
          <a:xfrm rot="-120953">
            <a:off x="457216" y="4025232"/>
            <a:ext cx="8229893" cy="51962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 algn="ctr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/>
        </p:txBody>
      </p:sp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ic-03.png" id="109" name="Google Shape;109;p22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0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rgbClr val="00A7EB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052050" y="1545942"/>
            <a:ext cx="7710900" cy="3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niglet"/>
              <a:buChar char="×"/>
              <a:defRPr sz="3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niglet"/>
              <a:buChar char="×"/>
              <a:defRPr sz="24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niglet"/>
              <a:buChar char="×"/>
              <a:defRPr sz="24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defRPr>
            </a:lvl1pPr>
            <a:lvl2pPr lvl="1" rtl="0" algn="r">
              <a:buNone/>
              <a:defRPr sz="1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defRPr>
            </a:lvl2pPr>
            <a:lvl3pPr lvl="2" rtl="0" algn="r">
              <a:buNone/>
              <a:defRPr sz="1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defRPr>
            </a:lvl3pPr>
            <a:lvl4pPr lvl="3" rtl="0" algn="r">
              <a:buNone/>
              <a:defRPr sz="1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defRPr>
            </a:lvl4pPr>
            <a:lvl5pPr lvl="4" rtl="0" algn="r">
              <a:buNone/>
              <a:defRPr sz="1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defRPr>
            </a:lvl5pPr>
            <a:lvl6pPr lvl="5" rtl="0" algn="r">
              <a:buNone/>
              <a:defRPr sz="1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defRPr>
            </a:lvl6pPr>
            <a:lvl7pPr lvl="6" rtl="0" algn="r">
              <a:buNone/>
              <a:defRPr sz="1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defRPr>
            </a:lvl7pPr>
            <a:lvl8pPr lvl="7" rtl="0" algn="r">
              <a:buNone/>
              <a:defRPr sz="1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defRPr>
            </a:lvl8pPr>
            <a:lvl9pPr lvl="8" rtl="0" algn="r">
              <a:buNone/>
              <a:defRPr sz="1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5C4CA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ctrTitle"/>
          </p:nvPr>
        </p:nvSpPr>
        <p:spPr>
          <a:xfrm>
            <a:off x="2572125" y="2068625"/>
            <a:ext cx="42717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 To artificial Intelligence!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CD0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ctrTitle"/>
          </p:nvPr>
        </p:nvSpPr>
        <p:spPr>
          <a:xfrm>
            <a:off x="3865425" y="806100"/>
            <a:ext cx="4374600" cy="264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latin typeface="Sniglet"/>
                <a:ea typeface="Sniglet"/>
                <a:cs typeface="Sniglet"/>
                <a:sym typeface="Sniglet"/>
              </a:rPr>
              <a:t>What does </a:t>
            </a:r>
            <a:endParaRPr sz="3200"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00"/>
              <a:t>“Artificial Intelligence”</a:t>
            </a:r>
            <a:endParaRPr sz="38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latin typeface="Sniglet"/>
                <a:ea typeface="Sniglet"/>
                <a:cs typeface="Sniglet"/>
                <a:sym typeface="Sniglet"/>
              </a:rPr>
              <a:t> make you think of?</a:t>
            </a:r>
            <a:endParaRPr sz="32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21" name="Google Shape;121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700" y="2557852"/>
            <a:ext cx="2314925" cy="253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5C4C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850" y="472775"/>
            <a:ext cx="3072024" cy="172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250" y="2370475"/>
            <a:ext cx="1762775" cy="16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1825" y="2422425"/>
            <a:ext cx="2505800" cy="250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5"/>
          <p:cNvPicPr preferRelativeResize="0"/>
          <p:nvPr/>
        </p:nvPicPr>
        <p:blipFill rotWithShape="1">
          <a:blip r:embed="rId6">
            <a:alphaModFix/>
          </a:blip>
          <a:srcRect b="9340" l="23490" r="24722" t="6886"/>
          <a:stretch/>
        </p:blipFill>
        <p:spPr>
          <a:xfrm>
            <a:off x="6844861" y="2370475"/>
            <a:ext cx="1549190" cy="250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48674" y="2660475"/>
            <a:ext cx="1323375" cy="2029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75875" y="401300"/>
            <a:ext cx="1868975" cy="186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5"/>
          <p:cNvPicPr preferRelativeResize="0"/>
          <p:nvPr/>
        </p:nvPicPr>
        <p:blipFill rotWithShape="1">
          <a:blip r:embed="rId9">
            <a:alphaModFix/>
          </a:blip>
          <a:srcRect b="0" l="0" r="9477" t="527"/>
          <a:stretch/>
        </p:blipFill>
        <p:spPr>
          <a:xfrm>
            <a:off x="7048425" y="401300"/>
            <a:ext cx="1700700" cy="186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5C4C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725" y="702175"/>
            <a:ext cx="1973375" cy="4164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9150" y="3711625"/>
            <a:ext cx="2475450" cy="1237725"/>
          </a:xfrm>
          <a:prstGeom prst="rect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0" name="Google Shape;14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575" y="157950"/>
            <a:ext cx="3661146" cy="20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9050" y="2457775"/>
            <a:ext cx="2438400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6"/>
          <p:cNvPicPr preferRelativeResize="0"/>
          <p:nvPr/>
        </p:nvPicPr>
        <p:blipFill rotWithShape="1">
          <a:blip r:embed="rId7">
            <a:alphaModFix/>
          </a:blip>
          <a:srcRect b="0" l="0" r="49847" t="12816"/>
          <a:stretch/>
        </p:blipFill>
        <p:spPr>
          <a:xfrm>
            <a:off x="4649050" y="83125"/>
            <a:ext cx="1803700" cy="341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965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 has three parts</a:t>
            </a:r>
            <a:endParaRPr/>
          </a:p>
        </p:txBody>
      </p:sp>
      <p:sp>
        <p:nvSpPr>
          <p:cNvPr id="148" name="Google Shape;148;p27"/>
          <p:cNvSpPr/>
          <p:nvPr/>
        </p:nvSpPr>
        <p:spPr>
          <a:xfrm rot="-152142">
            <a:off x="1333737" y="2074150"/>
            <a:ext cx="2264818" cy="1840197"/>
          </a:xfrm>
          <a:prstGeom prst="homePlate">
            <a:avLst>
              <a:gd fmla="val 30129" name="adj"/>
            </a:avLst>
          </a:prstGeom>
          <a:solidFill>
            <a:srgbClr val="A6CD02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latin typeface="Sniglet"/>
                <a:ea typeface="Sniglet"/>
                <a:cs typeface="Sniglet"/>
                <a:sym typeface="Sniglet"/>
              </a:rPr>
              <a:t>dataset</a:t>
            </a:r>
            <a:endParaRPr sz="1800" u="sng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49" name="Google Shape;149;p27"/>
          <p:cNvSpPr/>
          <p:nvPr/>
        </p:nvSpPr>
        <p:spPr>
          <a:xfrm rot="-151954">
            <a:off x="3295809" y="1986429"/>
            <a:ext cx="2308355" cy="1840197"/>
          </a:xfrm>
          <a:prstGeom prst="chevron">
            <a:avLst>
              <a:gd fmla="val 29853" name="adj"/>
            </a:avLst>
          </a:prstGeom>
          <a:solidFill>
            <a:srgbClr val="FAD9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learning algorithm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50" name="Google Shape;150;p27"/>
          <p:cNvSpPr/>
          <p:nvPr/>
        </p:nvSpPr>
        <p:spPr>
          <a:xfrm rot="-151775">
            <a:off x="5301341" y="1893924"/>
            <a:ext cx="2481018" cy="1840197"/>
          </a:xfrm>
          <a:prstGeom prst="chevron">
            <a:avLst>
              <a:gd fmla="val 29853" name="adj"/>
            </a:avLst>
          </a:prstGeom>
          <a:solidFill>
            <a:srgbClr val="FFA3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prediction!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51" name="Google Shape;151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965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 has three parts</a:t>
            </a:r>
            <a:endParaRPr/>
          </a:p>
        </p:txBody>
      </p:sp>
      <p:sp>
        <p:nvSpPr>
          <p:cNvPr id="157" name="Google Shape;157;p28"/>
          <p:cNvSpPr/>
          <p:nvPr/>
        </p:nvSpPr>
        <p:spPr>
          <a:xfrm rot="-152142">
            <a:off x="1333737" y="2074150"/>
            <a:ext cx="2264818" cy="1840197"/>
          </a:xfrm>
          <a:prstGeom prst="homePlate">
            <a:avLst>
              <a:gd fmla="val 30129" name="adj"/>
            </a:avLst>
          </a:prstGeom>
          <a:solidFill>
            <a:srgbClr val="A6CD02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latin typeface="Sniglet"/>
                <a:ea typeface="Sniglet"/>
                <a:cs typeface="Sniglet"/>
                <a:sym typeface="Sniglet"/>
              </a:rPr>
              <a:t>dataset</a:t>
            </a:r>
            <a:endParaRPr sz="1800" u="sng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58" name="Google Shape;158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CD0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ctrTitle"/>
          </p:nvPr>
        </p:nvSpPr>
        <p:spPr>
          <a:xfrm>
            <a:off x="3865425" y="806100"/>
            <a:ext cx="4374600" cy="264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latin typeface="Sniglet"/>
                <a:ea typeface="Sniglet"/>
                <a:cs typeface="Sniglet"/>
                <a:sym typeface="Sniglet"/>
              </a:rPr>
              <a:t>What is a</a:t>
            </a:r>
            <a:endParaRPr sz="3200"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00"/>
              <a:t>“dataset”?</a:t>
            </a:r>
            <a:endParaRPr sz="32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64" name="Google Shape;164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CD0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Datasets</a:t>
            </a:r>
            <a:endParaRPr/>
          </a:p>
        </p:txBody>
      </p:sp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1052050" y="1317350"/>
            <a:ext cx="3654900" cy="3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</a:rPr>
              <a:t>A </a:t>
            </a:r>
            <a:r>
              <a:rPr lang="en-GB" sz="2400" u="sng">
                <a:solidFill>
                  <a:srgbClr val="000000"/>
                </a:solidFill>
              </a:rPr>
              <a:t>dataset</a:t>
            </a:r>
            <a:r>
              <a:rPr lang="en-GB" sz="2400">
                <a:solidFill>
                  <a:srgbClr val="000000"/>
                </a:solidFill>
              </a:rPr>
              <a:t> is a collection of curated data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×"/>
            </a:pPr>
            <a:r>
              <a:rPr lang="en-GB" sz="2400">
                <a:solidFill>
                  <a:srgbClr val="000000"/>
                </a:solidFill>
              </a:rPr>
              <a:t>Images 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×"/>
            </a:pPr>
            <a:r>
              <a:rPr lang="en-GB" sz="2400">
                <a:solidFill>
                  <a:srgbClr val="000000"/>
                </a:solidFill>
              </a:rPr>
              <a:t>Measurements (time, views, inches, etc)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×"/>
            </a:pPr>
            <a:r>
              <a:rPr lang="en-GB" sz="2400">
                <a:solidFill>
                  <a:srgbClr val="000000"/>
                </a:solidFill>
              </a:rPr>
              <a:t>Text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×"/>
            </a:pPr>
            <a:r>
              <a:rPr lang="en-GB" sz="2400">
                <a:solidFill>
                  <a:srgbClr val="000000"/>
                </a:solidFill>
              </a:rPr>
              <a:t>Video recordings! 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71" name="Google Shape;171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2" name="Google Shape;17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7450" y="1595825"/>
            <a:ext cx="3398250" cy="254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965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 has three parts</a:t>
            </a:r>
            <a:endParaRPr/>
          </a:p>
        </p:txBody>
      </p:sp>
      <p:sp>
        <p:nvSpPr>
          <p:cNvPr id="178" name="Google Shape;178;p31"/>
          <p:cNvSpPr/>
          <p:nvPr/>
        </p:nvSpPr>
        <p:spPr>
          <a:xfrm rot="-152142">
            <a:off x="1333737" y="2074150"/>
            <a:ext cx="2264818" cy="1840197"/>
          </a:xfrm>
          <a:prstGeom prst="homePlate">
            <a:avLst>
              <a:gd fmla="val 30129" name="adj"/>
            </a:avLst>
          </a:prstGeom>
          <a:solidFill>
            <a:srgbClr val="A6CD02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latin typeface="Sniglet"/>
                <a:ea typeface="Sniglet"/>
                <a:cs typeface="Sniglet"/>
                <a:sym typeface="Sniglet"/>
              </a:rPr>
              <a:t>dataset</a:t>
            </a:r>
            <a:endParaRPr sz="1800" u="sng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79" name="Google Shape;179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965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 has three parts</a:t>
            </a:r>
            <a:endParaRPr/>
          </a:p>
        </p:txBody>
      </p:sp>
      <p:sp>
        <p:nvSpPr>
          <p:cNvPr id="185" name="Google Shape;185;p32"/>
          <p:cNvSpPr/>
          <p:nvPr/>
        </p:nvSpPr>
        <p:spPr>
          <a:xfrm rot="-152142">
            <a:off x="1333737" y="2074150"/>
            <a:ext cx="2264818" cy="1840197"/>
          </a:xfrm>
          <a:prstGeom prst="homePlate">
            <a:avLst>
              <a:gd fmla="val 30129" name="adj"/>
            </a:avLst>
          </a:prstGeom>
          <a:solidFill>
            <a:srgbClr val="A6CD02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dataset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86" name="Google Shape;186;p32"/>
          <p:cNvSpPr/>
          <p:nvPr/>
        </p:nvSpPr>
        <p:spPr>
          <a:xfrm rot="-151954">
            <a:off x="3295809" y="1986429"/>
            <a:ext cx="2308355" cy="1840197"/>
          </a:xfrm>
          <a:prstGeom prst="chevron">
            <a:avLst>
              <a:gd fmla="val 29853" name="adj"/>
            </a:avLst>
          </a:prstGeom>
          <a:solidFill>
            <a:srgbClr val="FAD9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learning </a:t>
            </a:r>
            <a:r>
              <a:rPr lang="en-GB" sz="1800" u="sng">
                <a:latin typeface="Sniglet"/>
                <a:ea typeface="Sniglet"/>
                <a:cs typeface="Sniglet"/>
                <a:sym typeface="Sniglet"/>
              </a:rPr>
              <a:t>algorithm</a:t>
            </a:r>
            <a:endParaRPr sz="1800" u="sng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87" name="Google Shape;187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CD02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/>
          <p:nvPr>
            <p:ph type="ctrTitle"/>
          </p:nvPr>
        </p:nvSpPr>
        <p:spPr>
          <a:xfrm>
            <a:off x="3865425" y="806100"/>
            <a:ext cx="4374600" cy="264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latin typeface="Sniglet"/>
                <a:ea typeface="Sniglet"/>
                <a:cs typeface="Sniglet"/>
                <a:sym typeface="Sniglet"/>
              </a:rPr>
              <a:t>What is an</a:t>
            </a:r>
            <a:endParaRPr sz="3200"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00"/>
              <a:t>“algorithm”?</a:t>
            </a:r>
            <a:endParaRPr sz="32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93" name="Google Shape;193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A300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</a:t>
            </a:r>
            <a:endParaRPr/>
          </a:p>
        </p:txBody>
      </p:sp>
      <p:sp>
        <p:nvSpPr>
          <p:cNvPr id="199" name="Google Shape;199;p34"/>
          <p:cNvSpPr/>
          <p:nvPr/>
        </p:nvSpPr>
        <p:spPr>
          <a:xfrm rot="-152142">
            <a:off x="1333737" y="2074150"/>
            <a:ext cx="2264818" cy="1840197"/>
          </a:xfrm>
          <a:prstGeom prst="homePlate">
            <a:avLst>
              <a:gd fmla="val 30129" name="adj"/>
            </a:avLst>
          </a:prstGeom>
          <a:solidFill>
            <a:srgbClr val="FF4026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input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00" name="Google Shape;200;p34"/>
          <p:cNvSpPr/>
          <p:nvPr/>
        </p:nvSpPr>
        <p:spPr>
          <a:xfrm rot="-151954">
            <a:off x="3295809" y="1986429"/>
            <a:ext cx="2308355" cy="1840197"/>
          </a:xfrm>
          <a:prstGeom prst="chevron">
            <a:avLst>
              <a:gd fmla="val 29853" name="adj"/>
            </a:avLst>
          </a:prstGeom>
          <a:solidFill>
            <a:srgbClr val="FAD9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Steps to change input</a:t>
            </a:r>
            <a:endParaRPr sz="1800" u="sng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01" name="Google Shape;201;p34"/>
          <p:cNvSpPr/>
          <p:nvPr/>
        </p:nvSpPr>
        <p:spPr>
          <a:xfrm rot="-151775">
            <a:off x="5301341" y="1893924"/>
            <a:ext cx="2481018" cy="1840197"/>
          </a:xfrm>
          <a:prstGeom prst="chevron">
            <a:avLst>
              <a:gd fmla="val 29853" name="adj"/>
            </a:avLst>
          </a:prstGeom>
          <a:solidFill>
            <a:srgbClr val="00A7EB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output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02" name="Google Shape;202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A300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Adding a contact to your phone</a:t>
            </a:r>
            <a:endParaRPr/>
          </a:p>
        </p:txBody>
      </p:sp>
      <p:sp>
        <p:nvSpPr>
          <p:cNvPr id="208" name="Google Shape;208;p35"/>
          <p:cNvSpPr/>
          <p:nvPr/>
        </p:nvSpPr>
        <p:spPr>
          <a:xfrm rot="-152142">
            <a:off x="1333737" y="2074150"/>
            <a:ext cx="2264818" cy="1840197"/>
          </a:xfrm>
          <a:prstGeom prst="homePlate">
            <a:avLst>
              <a:gd fmla="val 30129" name="adj"/>
            </a:avLst>
          </a:prstGeom>
          <a:solidFill>
            <a:srgbClr val="FF4026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Input: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niglet"/>
              <a:buChar char="●"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Contact’s name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niglet"/>
              <a:buChar char="●"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Phone number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09" name="Google Shape;209;p35"/>
          <p:cNvSpPr/>
          <p:nvPr/>
        </p:nvSpPr>
        <p:spPr>
          <a:xfrm rot="-151800">
            <a:off x="3295594" y="1977128"/>
            <a:ext cx="2732063" cy="1840197"/>
          </a:xfrm>
          <a:prstGeom prst="chevron">
            <a:avLst>
              <a:gd fmla="val 29853" name="adj"/>
            </a:avLst>
          </a:prstGeom>
          <a:solidFill>
            <a:srgbClr val="FAD9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niglet"/>
              <a:buAutoNum type="arabicPeriod"/>
            </a:pPr>
            <a:r>
              <a:rPr lang="en-GB" sz="1200">
                <a:latin typeface="Sniglet"/>
                <a:ea typeface="Sniglet"/>
                <a:cs typeface="Sniglet"/>
                <a:sym typeface="Sniglet"/>
              </a:rPr>
              <a:t>Open address book app</a:t>
            </a:r>
            <a:endParaRPr sz="1200">
              <a:latin typeface="Sniglet"/>
              <a:ea typeface="Sniglet"/>
              <a:cs typeface="Sniglet"/>
              <a:sym typeface="Snigle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niglet"/>
              <a:buAutoNum type="arabicPeriod"/>
            </a:pPr>
            <a:r>
              <a:rPr lang="en-GB" sz="1200">
                <a:latin typeface="Sniglet"/>
                <a:ea typeface="Sniglet"/>
                <a:cs typeface="Sniglet"/>
                <a:sym typeface="Sniglet"/>
              </a:rPr>
              <a:t>Fill out first name</a:t>
            </a:r>
            <a:endParaRPr sz="1200">
              <a:latin typeface="Sniglet"/>
              <a:ea typeface="Sniglet"/>
              <a:cs typeface="Sniglet"/>
              <a:sym typeface="Snigle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niglet"/>
              <a:buAutoNum type="arabicPeriod"/>
            </a:pPr>
            <a:r>
              <a:rPr lang="en-GB" sz="1200">
                <a:latin typeface="Sniglet"/>
                <a:ea typeface="Sniglet"/>
                <a:cs typeface="Sniglet"/>
                <a:sym typeface="Sniglet"/>
              </a:rPr>
              <a:t>Fill out last name</a:t>
            </a:r>
            <a:endParaRPr sz="1200">
              <a:latin typeface="Sniglet"/>
              <a:ea typeface="Sniglet"/>
              <a:cs typeface="Sniglet"/>
              <a:sym typeface="Snigle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niglet"/>
              <a:buAutoNum type="arabicPeriod"/>
            </a:pPr>
            <a:r>
              <a:rPr lang="en-GB" sz="1200">
                <a:latin typeface="Sniglet"/>
                <a:ea typeface="Sniglet"/>
                <a:cs typeface="Sniglet"/>
                <a:sym typeface="Sniglet"/>
              </a:rPr>
              <a:t>Add phone number</a:t>
            </a:r>
            <a:endParaRPr sz="1200">
              <a:latin typeface="Sniglet"/>
              <a:ea typeface="Sniglet"/>
              <a:cs typeface="Sniglet"/>
              <a:sym typeface="Snigle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niglet"/>
              <a:buAutoNum type="arabicPeriod"/>
            </a:pPr>
            <a:r>
              <a:rPr lang="en-GB" sz="1200">
                <a:latin typeface="Sniglet"/>
                <a:ea typeface="Sniglet"/>
                <a:cs typeface="Sniglet"/>
                <a:sym typeface="Sniglet"/>
              </a:rPr>
              <a:t>Save!</a:t>
            </a:r>
            <a:endParaRPr sz="12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10" name="Google Shape;210;p35"/>
          <p:cNvSpPr/>
          <p:nvPr/>
        </p:nvSpPr>
        <p:spPr>
          <a:xfrm rot="-151775">
            <a:off x="5682341" y="1893924"/>
            <a:ext cx="2481018" cy="1840197"/>
          </a:xfrm>
          <a:prstGeom prst="chevron">
            <a:avLst>
              <a:gd fmla="val 29853" name="adj"/>
            </a:avLst>
          </a:prstGeom>
          <a:solidFill>
            <a:srgbClr val="00A7EB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Output: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A new contact in your phone 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11" name="Google Shape;211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965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 has three parts</a:t>
            </a:r>
            <a:endParaRPr/>
          </a:p>
        </p:txBody>
      </p:sp>
      <p:sp>
        <p:nvSpPr>
          <p:cNvPr id="217" name="Google Shape;217;p36"/>
          <p:cNvSpPr/>
          <p:nvPr/>
        </p:nvSpPr>
        <p:spPr>
          <a:xfrm rot="-152142">
            <a:off x="1333737" y="2074150"/>
            <a:ext cx="2264818" cy="1840197"/>
          </a:xfrm>
          <a:prstGeom prst="homePlate">
            <a:avLst>
              <a:gd fmla="val 30129" name="adj"/>
            </a:avLst>
          </a:prstGeom>
          <a:solidFill>
            <a:srgbClr val="A6CD02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dataset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18" name="Google Shape;218;p36"/>
          <p:cNvSpPr/>
          <p:nvPr/>
        </p:nvSpPr>
        <p:spPr>
          <a:xfrm rot="-151954">
            <a:off x="3295809" y="1986429"/>
            <a:ext cx="2308355" cy="1840197"/>
          </a:xfrm>
          <a:prstGeom prst="chevron">
            <a:avLst>
              <a:gd fmla="val 29853" name="adj"/>
            </a:avLst>
          </a:prstGeom>
          <a:solidFill>
            <a:srgbClr val="FAD9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learning </a:t>
            </a:r>
            <a:r>
              <a:rPr lang="en-GB" sz="1800" u="sng">
                <a:latin typeface="Sniglet"/>
                <a:ea typeface="Sniglet"/>
                <a:cs typeface="Sniglet"/>
                <a:sym typeface="Sniglet"/>
              </a:rPr>
              <a:t>algorithm</a:t>
            </a:r>
            <a:endParaRPr sz="1800" u="sng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19" name="Google Shape;219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965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</a:t>
            </a:r>
            <a:endParaRPr/>
          </a:p>
        </p:txBody>
      </p:sp>
      <p:sp>
        <p:nvSpPr>
          <p:cNvPr id="225" name="Google Shape;225;p37"/>
          <p:cNvSpPr/>
          <p:nvPr/>
        </p:nvSpPr>
        <p:spPr>
          <a:xfrm rot="-152142">
            <a:off x="1333737" y="2074150"/>
            <a:ext cx="2264818" cy="1840197"/>
          </a:xfrm>
          <a:prstGeom prst="homePlate">
            <a:avLst>
              <a:gd fmla="val 30129" name="adj"/>
            </a:avLst>
          </a:prstGeom>
          <a:solidFill>
            <a:srgbClr val="A6CD02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dataset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26" name="Google Shape;226;p37"/>
          <p:cNvSpPr/>
          <p:nvPr/>
        </p:nvSpPr>
        <p:spPr>
          <a:xfrm rot="-151954">
            <a:off x="3295809" y="1986429"/>
            <a:ext cx="2308355" cy="1840197"/>
          </a:xfrm>
          <a:prstGeom prst="chevron">
            <a:avLst>
              <a:gd fmla="val 29853" name="adj"/>
            </a:avLst>
          </a:prstGeom>
          <a:solidFill>
            <a:srgbClr val="FAD9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learning algorithm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27" name="Google Shape;227;p37"/>
          <p:cNvSpPr/>
          <p:nvPr/>
        </p:nvSpPr>
        <p:spPr>
          <a:xfrm rot="-151775">
            <a:off x="5301341" y="1893924"/>
            <a:ext cx="2481018" cy="1840197"/>
          </a:xfrm>
          <a:prstGeom prst="chevron">
            <a:avLst>
              <a:gd fmla="val 29853" name="adj"/>
            </a:avLst>
          </a:prstGeom>
          <a:solidFill>
            <a:srgbClr val="FFA3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prediction!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28" name="Google Shape;228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A300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idx="1" type="body"/>
          </p:nvPr>
        </p:nvSpPr>
        <p:spPr>
          <a:xfrm>
            <a:off x="2905800" y="2161800"/>
            <a:ext cx="3332400" cy="8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600"/>
              <a:t>Let’s try some examples</a:t>
            </a:r>
            <a:endParaRPr sz="3600"/>
          </a:p>
        </p:txBody>
      </p:sp>
      <p:sp>
        <p:nvSpPr>
          <p:cNvPr id="234" name="Google Shape;23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965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Instagram advertisement</a:t>
            </a:r>
            <a:endParaRPr/>
          </a:p>
        </p:txBody>
      </p:sp>
      <p:sp>
        <p:nvSpPr>
          <p:cNvPr id="240" name="Google Shape;240;p39"/>
          <p:cNvSpPr/>
          <p:nvPr/>
        </p:nvSpPr>
        <p:spPr>
          <a:xfrm rot="-151775">
            <a:off x="5301341" y="1893924"/>
            <a:ext cx="2481018" cy="1840197"/>
          </a:xfrm>
          <a:prstGeom prst="chevron">
            <a:avLst>
              <a:gd fmla="val 29853" name="adj"/>
            </a:avLst>
          </a:prstGeom>
          <a:solidFill>
            <a:srgbClr val="FFA3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prediction?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41" name="Google Shape;241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965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Instagram advertisement</a:t>
            </a:r>
            <a:endParaRPr/>
          </a:p>
        </p:txBody>
      </p:sp>
      <p:sp>
        <p:nvSpPr>
          <p:cNvPr id="247" name="Google Shape;247;p40"/>
          <p:cNvSpPr/>
          <p:nvPr/>
        </p:nvSpPr>
        <p:spPr>
          <a:xfrm rot="-151775">
            <a:off x="5301341" y="1893924"/>
            <a:ext cx="2481018" cy="1840197"/>
          </a:xfrm>
          <a:prstGeom prst="chevron">
            <a:avLst>
              <a:gd fmla="val 29853" name="adj"/>
            </a:avLst>
          </a:prstGeom>
          <a:solidFill>
            <a:srgbClr val="FFA3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What you will click on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48" name="Google Shape;248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965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Instagram advertisement</a:t>
            </a:r>
            <a:endParaRPr/>
          </a:p>
        </p:txBody>
      </p:sp>
      <p:sp>
        <p:nvSpPr>
          <p:cNvPr id="254" name="Google Shape;254;p41"/>
          <p:cNvSpPr/>
          <p:nvPr/>
        </p:nvSpPr>
        <p:spPr>
          <a:xfrm rot="-151775">
            <a:off x="5301341" y="1893924"/>
            <a:ext cx="2481018" cy="1840197"/>
          </a:xfrm>
          <a:prstGeom prst="chevron">
            <a:avLst>
              <a:gd fmla="val 29853" name="adj"/>
            </a:avLst>
          </a:prstGeom>
          <a:solidFill>
            <a:srgbClr val="FFA3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What you will click on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55" name="Google Shape;255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6" name="Google Shape;256;p41"/>
          <p:cNvSpPr/>
          <p:nvPr/>
        </p:nvSpPr>
        <p:spPr>
          <a:xfrm rot="-151954">
            <a:off x="3295809" y="1986429"/>
            <a:ext cx="2308355" cy="1840197"/>
          </a:xfrm>
          <a:prstGeom prst="chevron">
            <a:avLst>
              <a:gd fmla="val 29853" name="adj"/>
            </a:avLst>
          </a:prstGeom>
          <a:solidFill>
            <a:srgbClr val="FAD9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learning algorithm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965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2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Instagram advertisement</a:t>
            </a:r>
            <a:endParaRPr/>
          </a:p>
        </p:txBody>
      </p:sp>
      <p:sp>
        <p:nvSpPr>
          <p:cNvPr id="262" name="Google Shape;262;p42"/>
          <p:cNvSpPr/>
          <p:nvPr/>
        </p:nvSpPr>
        <p:spPr>
          <a:xfrm rot="-151775">
            <a:off x="5301341" y="1893924"/>
            <a:ext cx="2481018" cy="1840197"/>
          </a:xfrm>
          <a:prstGeom prst="chevron">
            <a:avLst>
              <a:gd fmla="val 29853" name="adj"/>
            </a:avLst>
          </a:prstGeom>
          <a:solidFill>
            <a:srgbClr val="FFA3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What you will click on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63" name="Google Shape;263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4" name="Google Shape;264;p42"/>
          <p:cNvSpPr/>
          <p:nvPr/>
        </p:nvSpPr>
        <p:spPr>
          <a:xfrm rot="-151954">
            <a:off x="3295809" y="1986429"/>
            <a:ext cx="2308355" cy="1840197"/>
          </a:xfrm>
          <a:prstGeom prst="chevron">
            <a:avLst>
              <a:gd fmla="val 29853" name="adj"/>
            </a:avLst>
          </a:prstGeom>
          <a:solidFill>
            <a:srgbClr val="FAD9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learning algorithm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65" name="Google Shape;265;p42"/>
          <p:cNvSpPr/>
          <p:nvPr/>
        </p:nvSpPr>
        <p:spPr>
          <a:xfrm rot="-152142">
            <a:off x="1333737" y="2074150"/>
            <a:ext cx="2264818" cy="1840197"/>
          </a:xfrm>
          <a:prstGeom prst="homePlate">
            <a:avLst>
              <a:gd fmla="val 30129" name="adj"/>
            </a:avLst>
          </a:prstGeom>
          <a:solidFill>
            <a:srgbClr val="A6CD02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dataset?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965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3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Instagram advertisement</a:t>
            </a:r>
            <a:endParaRPr/>
          </a:p>
        </p:txBody>
      </p:sp>
      <p:sp>
        <p:nvSpPr>
          <p:cNvPr id="271" name="Google Shape;271;p43"/>
          <p:cNvSpPr/>
          <p:nvPr/>
        </p:nvSpPr>
        <p:spPr>
          <a:xfrm rot="-151775">
            <a:off x="5301341" y="1893924"/>
            <a:ext cx="2481018" cy="1840197"/>
          </a:xfrm>
          <a:prstGeom prst="chevron">
            <a:avLst>
              <a:gd fmla="val 29853" name="adj"/>
            </a:avLst>
          </a:prstGeom>
          <a:solidFill>
            <a:srgbClr val="FFA3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What you will click on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72" name="Google Shape;272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3" name="Google Shape;273;p43"/>
          <p:cNvSpPr/>
          <p:nvPr/>
        </p:nvSpPr>
        <p:spPr>
          <a:xfrm rot="-151954">
            <a:off x="3295809" y="1986429"/>
            <a:ext cx="2308355" cy="1840197"/>
          </a:xfrm>
          <a:prstGeom prst="chevron">
            <a:avLst>
              <a:gd fmla="val 29853" name="adj"/>
            </a:avLst>
          </a:prstGeom>
          <a:solidFill>
            <a:srgbClr val="FAD9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learning algorithm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74" name="Google Shape;274;p43"/>
          <p:cNvSpPr/>
          <p:nvPr/>
        </p:nvSpPr>
        <p:spPr>
          <a:xfrm rot="-152142">
            <a:off x="1333737" y="2074150"/>
            <a:ext cx="2264818" cy="1840197"/>
          </a:xfrm>
          <a:prstGeom prst="homePlate">
            <a:avLst>
              <a:gd fmla="val 30129" name="adj"/>
            </a:avLst>
          </a:prstGeom>
          <a:solidFill>
            <a:srgbClr val="A6CD02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Sniglet"/>
              <a:buChar char="●"/>
            </a:pPr>
            <a:r>
              <a:rPr lang="en-GB" sz="1600">
                <a:latin typeface="Sniglet"/>
                <a:ea typeface="Sniglet"/>
                <a:cs typeface="Sniglet"/>
                <a:sym typeface="Sniglet"/>
              </a:rPr>
              <a:t>Past clicks </a:t>
            </a:r>
            <a:endParaRPr sz="1600">
              <a:latin typeface="Sniglet"/>
              <a:ea typeface="Sniglet"/>
              <a:cs typeface="Sniglet"/>
              <a:sym typeface="Snigle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Sniglet"/>
              <a:buChar char="●"/>
            </a:pPr>
            <a:r>
              <a:rPr lang="en-GB" sz="1600">
                <a:latin typeface="Sniglet"/>
                <a:ea typeface="Sniglet"/>
                <a:cs typeface="Sniglet"/>
                <a:sym typeface="Sniglet"/>
              </a:rPr>
              <a:t>Brands you follow and people like you</a:t>
            </a:r>
            <a:endParaRPr sz="1600">
              <a:latin typeface="Sniglet"/>
              <a:ea typeface="Sniglet"/>
              <a:cs typeface="Sniglet"/>
              <a:sym typeface="Snigle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Sniglet"/>
              <a:buChar char="●"/>
            </a:pPr>
            <a:r>
              <a:rPr lang="en-GB" sz="1600">
                <a:latin typeface="Sniglet"/>
                <a:ea typeface="Sniglet"/>
                <a:cs typeface="Sniglet"/>
                <a:sym typeface="Sniglet"/>
              </a:rPr>
              <a:t>Text in captions </a:t>
            </a:r>
            <a:endParaRPr sz="1600">
              <a:latin typeface="Sniglet"/>
              <a:ea typeface="Sniglet"/>
              <a:cs typeface="Sniglet"/>
              <a:sym typeface="Snigle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965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4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EMAIL SpAM filter</a:t>
            </a:r>
            <a:endParaRPr/>
          </a:p>
        </p:txBody>
      </p:sp>
      <p:sp>
        <p:nvSpPr>
          <p:cNvPr id="280" name="Google Shape;280;p44"/>
          <p:cNvSpPr/>
          <p:nvPr/>
        </p:nvSpPr>
        <p:spPr>
          <a:xfrm rot="-152142">
            <a:off x="1333737" y="2074150"/>
            <a:ext cx="2264818" cy="1840197"/>
          </a:xfrm>
          <a:prstGeom prst="homePlate">
            <a:avLst>
              <a:gd fmla="val 30129" name="adj"/>
            </a:avLst>
          </a:prstGeom>
          <a:solidFill>
            <a:srgbClr val="A6CD02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dataset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81" name="Google Shape;281;p44"/>
          <p:cNvSpPr/>
          <p:nvPr/>
        </p:nvSpPr>
        <p:spPr>
          <a:xfrm rot="-151954">
            <a:off x="3295809" y="1986429"/>
            <a:ext cx="2308355" cy="1840197"/>
          </a:xfrm>
          <a:prstGeom prst="chevron">
            <a:avLst>
              <a:gd fmla="val 29853" name="adj"/>
            </a:avLst>
          </a:prstGeom>
          <a:solidFill>
            <a:srgbClr val="FAD9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learning algorithm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82" name="Google Shape;282;p44"/>
          <p:cNvSpPr/>
          <p:nvPr/>
        </p:nvSpPr>
        <p:spPr>
          <a:xfrm rot="-151775">
            <a:off x="5301341" y="1893924"/>
            <a:ext cx="2481018" cy="1840197"/>
          </a:xfrm>
          <a:prstGeom prst="chevron">
            <a:avLst>
              <a:gd fmla="val 29853" name="adj"/>
            </a:avLst>
          </a:prstGeom>
          <a:solidFill>
            <a:srgbClr val="FFA3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prediction!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83" name="Google Shape;283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965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5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EMAIL SpAM filter</a:t>
            </a:r>
            <a:endParaRPr/>
          </a:p>
        </p:txBody>
      </p:sp>
      <p:sp>
        <p:nvSpPr>
          <p:cNvPr id="289" name="Google Shape;289;p45"/>
          <p:cNvSpPr/>
          <p:nvPr/>
        </p:nvSpPr>
        <p:spPr>
          <a:xfrm rot="-151775">
            <a:off x="5301341" y="1893924"/>
            <a:ext cx="2481018" cy="1840197"/>
          </a:xfrm>
          <a:prstGeom prst="chevron">
            <a:avLst>
              <a:gd fmla="val 29853" name="adj"/>
            </a:avLst>
          </a:prstGeom>
          <a:solidFill>
            <a:srgbClr val="FFA3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prediction?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90" name="Google Shape;290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965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6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EMAIL SpAM filter</a:t>
            </a:r>
            <a:endParaRPr/>
          </a:p>
        </p:txBody>
      </p:sp>
      <p:sp>
        <p:nvSpPr>
          <p:cNvPr id="296" name="Google Shape;296;p46"/>
          <p:cNvSpPr/>
          <p:nvPr/>
        </p:nvSpPr>
        <p:spPr>
          <a:xfrm rot="-151775">
            <a:off x="5301341" y="1893924"/>
            <a:ext cx="2481018" cy="1840197"/>
          </a:xfrm>
          <a:prstGeom prst="chevron">
            <a:avLst>
              <a:gd fmla="val 29853" name="adj"/>
            </a:avLst>
          </a:prstGeom>
          <a:solidFill>
            <a:srgbClr val="FFA3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If email is spam or not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297" name="Google Shape;297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965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7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EMAIL SpAM filter</a:t>
            </a:r>
            <a:endParaRPr/>
          </a:p>
        </p:txBody>
      </p:sp>
      <p:sp>
        <p:nvSpPr>
          <p:cNvPr id="303" name="Google Shape;303;p47"/>
          <p:cNvSpPr/>
          <p:nvPr/>
        </p:nvSpPr>
        <p:spPr>
          <a:xfrm rot="-151775">
            <a:off x="5301341" y="1893924"/>
            <a:ext cx="2481018" cy="1840197"/>
          </a:xfrm>
          <a:prstGeom prst="chevron">
            <a:avLst>
              <a:gd fmla="val 29853" name="adj"/>
            </a:avLst>
          </a:prstGeom>
          <a:solidFill>
            <a:srgbClr val="FFA3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If email is spam or not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304" name="Google Shape;304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5" name="Google Shape;305;p47"/>
          <p:cNvSpPr/>
          <p:nvPr/>
        </p:nvSpPr>
        <p:spPr>
          <a:xfrm rot="-151954">
            <a:off x="3295809" y="1986429"/>
            <a:ext cx="2308355" cy="1840197"/>
          </a:xfrm>
          <a:prstGeom prst="chevron">
            <a:avLst>
              <a:gd fmla="val 29853" name="adj"/>
            </a:avLst>
          </a:prstGeom>
          <a:solidFill>
            <a:srgbClr val="FAD9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learning algorithm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965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8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Email Spam Filter</a:t>
            </a:r>
            <a:endParaRPr/>
          </a:p>
        </p:txBody>
      </p:sp>
      <p:sp>
        <p:nvSpPr>
          <p:cNvPr id="311" name="Google Shape;311;p48"/>
          <p:cNvSpPr/>
          <p:nvPr/>
        </p:nvSpPr>
        <p:spPr>
          <a:xfrm rot="-151775">
            <a:off x="5301341" y="1893924"/>
            <a:ext cx="2481018" cy="1840197"/>
          </a:xfrm>
          <a:prstGeom prst="chevron">
            <a:avLst>
              <a:gd fmla="val 29853" name="adj"/>
            </a:avLst>
          </a:prstGeom>
          <a:solidFill>
            <a:srgbClr val="FFA3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If email is spam or not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312" name="Google Shape;312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3" name="Google Shape;313;p48"/>
          <p:cNvSpPr/>
          <p:nvPr/>
        </p:nvSpPr>
        <p:spPr>
          <a:xfrm rot="-151954">
            <a:off x="3295809" y="1986429"/>
            <a:ext cx="2308355" cy="1840197"/>
          </a:xfrm>
          <a:prstGeom prst="chevron">
            <a:avLst>
              <a:gd fmla="val 29853" name="adj"/>
            </a:avLst>
          </a:prstGeom>
          <a:solidFill>
            <a:srgbClr val="FAD9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learning algorithm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314" name="Google Shape;314;p48"/>
          <p:cNvSpPr/>
          <p:nvPr/>
        </p:nvSpPr>
        <p:spPr>
          <a:xfrm rot="-152142">
            <a:off x="1333737" y="2074150"/>
            <a:ext cx="2264818" cy="1840197"/>
          </a:xfrm>
          <a:prstGeom prst="homePlate">
            <a:avLst>
              <a:gd fmla="val 30129" name="adj"/>
            </a:avLst>
          </a:prstGeom>
          <a:solidFill>
            <a:srgbClr val="A6CD02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dataset?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965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9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Email spam Filter</a:t>
            </a:r>
            <a:endParaRPr/>
          </a:p>
        </p:txBody>
      </p:sp>
      <p:sp>
        <p:nvSpPr>
          <p:cNvPr id="320" name="Google Shape;320;p49"/>
          <p:cNvSpPr/>
          <p:nvPr/>
        </p:nvSpPr>
        <p:spPr>
          <a:xfrm rot="-151775">
            <a:off x="5301341" y="1893924"/>
            <a:ext cx="2481018" cy="1840197"/>
          </a:xfrm>
          <a:prstGeom prst="chevron">
            <a:avLst>
              <a:gd fmla="val 29853" name="adj"/>
            </a:avLst>
          </a:prstGeom>
          <a:solidFill>
            <a:srgbClr val="FFA3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rPr>
              <a:t>If email is spam or not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321" name="Google Shape;321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2" name="Google Shape;322;p49"/>
          <p:cNvSpPr/>
          <p:nvPr/>
        </p:nvSpPr>
        <p:spPr>
          <a:xfrm rot="-151954">
            <a:off x="3295809" y="1986429"/>
            <a:ext cx="2308355" cy="1840197"/>
          </a:xfrm>
          <a:prstGeom prst="chevron">
            <a:avLst>
              <a:gd fmla="val 29853" name="adj"/>
            </a:avLst>
          </a:prstGeom>
          <a:solidFill>
            <a:srgbClr val="FAD900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learning algorithm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323" name="Google Shape;323;p49"/>
          <p:cNvSpPr/>
          <p:nvPr/>
        </p:nvSpPr>
        <p:spPr>
          <a:xfrm rot="-152142">
            <a:off x="1333737" y="2074150"/>
            <a:ext cx="2264818" cy="1840197"/>
          </a:xfrm>
          <a:prstGeom prst="homePlate">
            <a:avLst>
              <a:gd fmla="val 30129" name="adj"/>
            </a:avLst>
          </a:prstGeom>
          <a:solidFill>
            <a:srgbClr val="A6CD02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niglet"/>
              <a:buChar char="●"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Past emails you have labeled as spam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niglet"/>
              <a:buChar char="●"/>
            </a:pPr>
            <a:r>
              <a:rPr lang="en-GB" sz="1800">
                <a:latin typeface="Sniglet"/>
                <a:ea typeface="Sniglet"/>
                <a:cs typeface="Sniglet"/>
                <a:sym typeface="Sniglet"/>
              </a:rPr>
              <a:t>Text of emails</a:t>
            </a:r>
            <a:endParaRPr sz="1800">
              <a:latin typeface="Sniglet"/>
              <a:ea typeface="Sniglet"/>
              <a:cs typeface="Sniglet"/>
              <a:sym typeface="Snigle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A300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0"/>
          <p:cNvSpPr txBox="1"/>
          <p:nvPr>
            <p:ph idx="1" type="body"/>
          </p:nvPr>
        </p:nvSpPr>
        <p:spPr>
          <a:xfrm>
            <a:off x="2905800" y="2161800"/>
            <a:ext cx="3332400" cy="8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600"/>
              <a:t>Time for AI Bingo! </a:t>
            </a:r>
            <a:endParaRPr sz="3600"/>
          </a:p>
        </p:txBody>
      </p:sp>
      <p:sp>
        <p:nvSpPr>
          <p:cNvPr id="329" name="Google Shape;329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achim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